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3" r:id="rId9"/>
    <p:sldId id="264" r:id="rId1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624"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3:42.612"/>
    </inkml:context>
    <inkml:brush xml:id="br0">
      <inkml:brushProperty name="width" value="0.035" units="cm"/>
      <inkml:brushProperty name="height" value="0.035" units="cm"/>
    </inkml:brush>
  </inkml:definitions>
  <inkml:trace contextRef="#ctx0" brushRef="#br0">0 0 17694,'28759'0'0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2T00:14:51.539"/>
    </inkml:context>
    <inkml:brush xml:id="br0">
      <inkml:brushProperty name="width" value="0.1" units="cm"/>
      <inkml:brushProperty name="height" value="0.1" units="cm"/>
      <inkml:brushProperty name="color" value="#5B2D90"/>
    </inkml:brush>
  </inkml:definitions>
  <inkml:trace contextRef="#ctx0" brushRef="#br0">1 1 8192,'0'0'0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2727AB-E472-455F-7F87-7E40687182B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98CD92C3-5F62-2DAE-5234-C5486D96AC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3DE003CE-5EB2-7707-D203-80C3C5EB1EEF}"/>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5" name="Marcador de pie de página 4">
            <a:extLst>
              <a:ext uri="{FF2B5EF4-FFF2-40B4-BE49-F238E27FC236}">
                <a16:creationId xmlns:a16="http://schemas.microsoft.com/office/drawing/2014/main" id="{080398DF-41F6-A037-29EB-58FC7E5614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9D31D94-6311-ADD4-C064-A8CB4312F6C4}"/>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4119449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0CC727-4892-13E7-070B-0BE1ADB34EAB}"/>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45896C87-EBDD-C19B-C5FD-30EC9F7C7E4D}"/>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F7C4CB8-0D2C-927E-560B-A88B269CAA7B}"/>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5" name="Marcador de pie de página 4">
            <a:extLst>
              <a:ext uri="{FF2B5EF4-FFF2-40B4-BE49-F238E27FC236}">
                <a16:creationId xmlns:a16="http://schemas.microsoft.com/office/drawing/2014/main" id="{CB7E75F5-C695-581D-FB3B-FD57F35F0B6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C47A092-5740-C802-A275-B04AB9021089}"/>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200259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EBC02E-E0FF-9EF4-42DA-D051FFCA4A53}"/>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5823716D-06C0-ED4E-FB62-9C1B48CA5E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87CBB99-7728-39F9-1F00-A7811CD63E9E}"/>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5" name="Marcador de pie de página 4">
            <a:extLst>
              <a:ext uri="{FF2B5EF4-FFF2-40B4-BE49-F238E27FC236}">
                <a16:creationId xmlns:a16="http://schemas.microsoft.com/office/drawing/2014/main" id="{CC8A506A-32B5-B61D-ADB1-D4B8F785D20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5179B82-70AD-51F5-FF7B-724D7B0D44E0}"/>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1242047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60D313-FAE5-29D6-0739-1CD7127962E0}"/>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B10E45F5-58FF-B7CB-AB55-D72519F2BB0F}"/>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1FBA5958-4732-FEF9-1523-DCC2E599D210}"/>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5B6D2519-4A16-1F90-3FC7-08BE71306FCE}"/>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6" name="Marcador de pie de página 5">
            <a:extLst>
              <a:ext uri="{FF2B5EF4-FFF2-40B4-BE49-F238E27FC236}">
                <a16:creationId xmlns:a16="http://schemas.microsoft.com/office/drawing/2014/main" id="{3A1ED83F-E6FD-4400-B71E-39060AEDE0C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69CBDC1-4037-5B04-DB8A-2D9773F263D4}"/>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1649066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E51FE8-2BB4-4E8F-BAE7-D0AF4A401BAA}"/>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A45EA976-3C2F-1629-E5B8-AFA06E1CF6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FFC078D8-5056-FB47-6C9C-4BB8DC224DB7}"/>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0208E356-0026-94D7-A905-5D583E7D3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43DB4F5E-E33D-7EB6-7C67-8F8CD410E648}"/>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1AD89A1C-B810-12A3-AC52-3EA5ACCBAF55}"/>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8" name="Marcador de pie de página 7">
            <a:extLst>
              <a:ext uri="{FF2B5EF4-FFF2-40B4-BE49-F238E27FC236}">
                <a16:creationId xmlns:a16="http://schemas.microsoft.com/office/drawing/2014/main" id="{F953EADD-15F5-F2C1-2626-A8C355449326}"/>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AFC96E9-03A6-68DD-DE41-59510F2EFEF2}"/>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280328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25EDC1-F5AB-D7CB-321C-A328FA0F55FE}"/>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B7FC95D4-1F32-8677-FA9E-4A8F675457A3}"/>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4" name="Marcador de pie de página 3">
            <a:extLst>
              <a:ext uri="{FF2B5EF4-FFF2-40B4-BE49-F238E27FC236}">
                <a16:creationId xmlns:a16="http://schemas.microsoft.com/office/drawing/2014/main" id="{85F30DEF-CD89-5B23-9E93-6FCD8FF467E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A4BE192-120D-BE17-B743-0DF9CCD28BE4}"/>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121395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2D94A9F-BEFA-49C4-65FC-DC7B0B96541D}"/>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3" name="Marcador de pie de página 2">
            <a:extLst>
              <a:ext uri="{FF2B5EF4-FFF2-40B4-BE49-F238E27FC236}">
                <a16:creationId xmlns:a16="http://schemas.microsoft.com/office/drawing/2014/main" id="{5C5689BA-C4B9-D633-0F39-82B6D6923333}"/>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F6012E4-D2F3-950E-7BAE-C4E61D97B734}"/>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2386497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5DC220-244B-B3D0-E5FF-448B11F1A91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A880DCD3-9D11-2C89-0C3E-127DE11C9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0F9D3333-114C-B152-C99D-D28BAAEB0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DC95F0F-6B0B-F99C-75B3-4CE898BEC0CD}"/>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6" name="Marcador de pie de página 5">
            <a:extLst>
              <a:ext uri="{FF2B5EF4-FFF2-40B4-BE49-F238E27FC236}">
                <a16:creationId xmlns:a16="http://schemas.microsoft.com/office/drawing/2014/main" id="{0F8C6997-2059-C581-5803-98B140774F3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9DCFD6E-AF38-E98D-52FB-4C24D874D4DD}"/>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401854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20C466-4037-C438-DDD1-CA6DB42AADB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59396E0A-832C-D87D-144A-1F90F77E00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D6B8C24-3F27-0EF3-3C4E-19E3544B4E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00FFE200-9388-E039-4B19-3F0346EECF83}"/>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6" name="Marcador de pie de página 5">
            <a:extLst>
              <a:ext uri="{FF2B5EF4-FFF2-40B4-BE49-F238E27FC236}">
                <a16:creationId xmlns:a16="http://schemas.microsoft.com/office/drawing/2014/main" id="{09EE4177-9EFC-40D3-9D7F-DF00FD31D8A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8D5640E-5DA8-6B0B-9DC7-55BBB370F86C}"/>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3610146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7C19E4-A593-652E-69D9-A7EEBA77A48F}"/>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9583CC77-433A-7B5C-D6F9-5B80F09C566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8CE89D5D-98A3-E4BE-F9AA-40D8D282F552}"/>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5" name="Marcador de pie de página 4">
            <a:extLst>
              <a:ext uri="{FF2B5EF4-FFF2-40B4-BE49-F238E27FC236}">
                <a16:creationId xmlns:a16="http://schemas.microsoft.com/office/drawing/2014/main" id="{6979A4F2-7226-18AB-75DC-B035BF09908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378B160-1A92-44D2-899E-A1DB97D99580}"/>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718498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24D01C8-6D8A-9374-CE76-12CBE602F1BC}"/>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B298D30E-BA83-96D6-501B-FEE5DDC1149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DDB8F881-B247-9F52-E907-3F6FEFDC7449}"/>
              </a:ext>
            </a:extLst>
          </p:cNvPr>
          <p:cNvSpPr>
            <a:spLocks noGrp="1"/>
          </p:cNvSpPr>
          <p:nvPr>
            <p:ph type="dt" sz="half" idx="10"/>
          </p:nvPr>
        </p:nvSpPr>
        <p:spPr/>
        <p:txBody>
          <a:bodyPr/>
          <a:lstStyle/>
          <a:p>
            <a:fld id="{F81F4AC7-75DE-4973-8C38-AD0166A13FBA}" type="datetimeFigureOut">
              <a:rPr lang="es-CO" smtClean="0"/>
              <a:t>1/09/2026</a:t>
            </a:fld>
            <a:endParaRPr lang="es-CO"/>
          </a:p>
        </p:txBody>
      </p:sp>
      <p:sp>
        <p:nvSpPr>
          <p:cNvPr id="5" name="Marcador de pie de página 4">
            <a:extLst>
              <a:ext uri="{FF2B5EF4-FFF2-40B4-BE49-F238E27FC236}">
                <a16:creationId xmlns:a16="http://schemas.microsoft.com/office/drawing/2014/main" id="{C265A2BB-25FF-1406-D134-8A7A2639F34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C367C07-3775-1F27-FA44-AF5FC66CA3D9}"/>
              </a:ext>
            </a:extLst>
          </p:cNvPr>
          <p:cNvSpPr>
            <a:spLocks noGrp="1"/>
          </p:cNvSpPr>
          <p:nvPr>
            <p:ph type="sldNum" sz="quarter" idx="12"/>
          </p:nvPr>
        </p:nvSpPr>
        <p:spPr/>
        <p:txBody>
          <a:bodyPr/>
          <a:lstStyle/>
          <a:p>
            <a:fld id="{B2221A85-9BAE-4469-93A5-347BFA3E3BCD}" type="slidenum">
              <a:rPr lang="es-CO" smtClean="0"/>
              <a:t>‹Nº›</a:t>
            </a:fld>
            <a:endParaRPr lang="es-CO"/>
          </a:p>
        </p:txBody>
      </p:sp>
    </p:spTree>
    <p:extLst>
      <p:ext uri="{BB962C8B-B14F-4D97-AF65-F5344CB8AC3E}">
        <p14:creationId xmlns:p14="http://schemas.microsoft.com/office/powerpoint/2010/main" val="155265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08BC775-372E-81F5-7200-8AE2E9E8EC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3074EBA4-80DE-C1DD-8D0E-E5C2E14A3A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353FF23-14F0-A0A3-507A-0FD6FFA62C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1F4AC7-75DE-4973-8C38-AD0166A13FBA}" type="datetimeFigureOut">
              <a:rPr lang="es-CO" smtClean="0"/>
              <a:t>1/09/2026</a:t>
            </a:fld>
            <a:endParaRPr lang="es-CO"/>
          </a:p>
        </p:txBody>
      </p:sp>
      <p:sp>
        <p:nvSpPr>
          <p:cNvPr id="5" name="Marcador de pie de página 4">
            <a:extLst>
              <a:ext uri="{FF2B5EF4-FFF2-40B4-BE49-F238E27FC236}">
                <a16:creationId xmlns:a16="http://schemas.microsoft.com/office/drawing/2014/main" id="{08DFB6E7-FDA7-265F-E2DC-7BEF1808CC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5419E5AD-D970-6C2B-659C-D2321DB9AE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221A85-9BAE-4469-93A5-347BFA3E3BCD}" type="slidenum">
              <a:rPr lang="es-CO" smtClean="0"/>
              <a:t>‹Nº›</a:t>
            </a:fld>
            <a:endParaRPr lang="es-CO"/>
          </a:p>
        </p:txBody>
      </p:sp>
    </p:spTree>
    <p:extLst>
      <p:ext uri="{BB962C8B-B14F-4D97-AF65-F5344CB8AC3E}">
        <p14:creationId xmlns:p14="http://schemas.microsoft.com/office/powerpoint/2010/main" val="3412790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924E10A4-CDE0-B550-4B4D-8CA36CCDD1C6}"/>
              </a:ext>
            </a:extLst>
          </p:cNvPr>
          <p:cNvSpPr>
            <a:spLocks noGrp="1"/>
          </p:cNvSpPr>
          <p:nvPr>
            <p:ph type="subTitle" idx="1"/>
          </p:nvPr>
        </p:nvSpPr>
        <p:spPr>
          <a:xfrm>
            <a:off x="3834580" y="1858296"/>
            <a:ext cx="3696929" cy="882446"/>
          </a:xfrm>
        </p:spPr>
        <p:txBody>
          <a:bodyPr/>
          <a:lstStyle/>
          <a:p>
            <a:r>
              <a:rPr lang="es-MX" dirty="0"/>
              <a:t>Antropología del espacio virtual </a:t>
            </a:r>
            <a:endParaRPr lang="es-CO" dirty="0"/>
          </a:p>
        </p:txBody>
      </p:sp>
      <p:sp>
        <p:nvSpPr>
          <p:cNvPr id="4" name="Subtítulo 2">
            <a:extLst>
              <a:ext uri="{FF2B5EF4-FFF2-40B4-BE49-F238E27FC236}">
                <a16:creationId xmlns:a16="http://schemas.microsoft.com/office/drawing/2014/main" id="{BD972A01-F8FC-7EF2-D635-48D91D4E7E3B}"/>
              </a:ext>
            </a:extLst>
          </p:cNvPr>
          <p:cNvSpPr txBox="1">
            <a:spLocks/>
          </p:cNvSpPr>
          <p:nvPr/>
        </p:nvSpPr>
        <p:spPr>
          <a:xfrm>
            <a:off x="-442452" y="1230261"/>
            <a:ext cx="2875936" cy="5432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MX" dirty="0"/>
              <a:t>Donde vives</a:t>
            </a:r>
            <a:endParaRPr lang="es-CO" dirty="0"/>
          </a:p>
        </p:txBody>
      </p:sp>
      <p:sp>
        <p:nvSpPr>
          <p:cNvPr id="6" name="Subtítulo 2">
            <a:extLst>
              <a:ext uri="{FF2B5EF4-FFF2-40B4-BE49-F238E27FC236}">
                <a16:creationId xmlns:a16="http://schemas.microsoft.com/office/drawing/2014/main" id="{9A3D2601-1824-2CEA-95BE-264ECA6AFE03}"/>
              </a:ext>
            </a:extLst>
          </p:cNvPr>
          <p:cNvSpPr txBox="1">
            <a:spLocks/>
          </p:cNvSpPr>
          <p:nvPr/>
        </p:nvSpPr>
        <p:spPr>
          <a:xfrm>
            <a:off x="6096000" y="958645"/>
            <a:ext cx="2875936" cy="5432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MX" dirty="0"/>
              <a:t>Hackeos y cambios</a:t>
            </a:r>
            <a:endParaRPr lang="es-CO" dirty="0"/>
          </a:p>
        </p:txBody>
      </p:sp>
      <p:sp>
        <p:nvSpPr>
          <p:cNvPr id="8" name="Subtítulo 2">
            <a:extLst>
              <a:ext uri="{FF2B5EF4-FFF2-40B4-BE49-F238E27FC236}">
                <a16:creationId xmlns:a16="http://schemas.microsoft.com/office/drawing/2014/main" id="{B8F955A1-5239-668E-81EC-6FBA0D180542}"/>
              </a:ext>
            </a:extLst>
          </p:cNvPr>
          <p:cNvSpPr txBox="1">
            <a:spLocks/>
          </p:cNvSpPr>
          <p:nvPr/>
        </p:nvSpPr>
        <p:spPr>
          <a:xfrm>
            <a:off x="8863781" y="3063974"/>
            <a:ext cx="2875936" cy="5432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MX" dirty="0"/>
              <a:t>Mutaciones</a:t>
            </a:r>
            <a:endParaRPr lang="es-CO" dirty="0"/>
          </a:p>
        </p:txBody>
      </p:sp>
      <p:sp>
        <p:nvSpPr>
          <p:cNvPr id="10" name="Subtítulo 2">
            <a:extLst>
              <a:ext uri="{FF2B5EF4-FFF2-40B4-BE49-F238E27FC236}">
                <a16:creationId xmlns:a16="http://schemas.microsoft.com/office/drawing/2014/main" id="{A0286E5A-A6D6-1C88-DC7B-AEAD506534C3}"/>
              </a:ext>
            </a:extLst>
          </p:cNvPr>
          <p:cNvSpPr txBox="1">
            <a:spLocks/>
          </p:cNvSpPr>
          <p:nvPr/>
        </p:nvSpPr>
        <p:spPr>
          <a:xfrm>
            <a:off x="550607" y="3335591"/>
            <a:ext cx="2875936" cy="5432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MX" dirty="0" err="1"/>
              <a:t>Pulgarcit@s</a:t>
            </a:r>
            <a:endParaRPr lang="es-CO" dirty="0"/>
          </a:p>
        </p:txBody>
      </p:sp>
      <p:cxnSp>
        <p:nvCxnSpPr>
          <p:cNvPr id="12" name="Conector recto 11">
            <a:extLst>
              <a:ext uri="{FF2B5EF4-FFF2-40B4-BE49-F238E27FC236}">
                <a16:creationId xmlns:a16="http://schemas.microsoft.com/office/drawing/2014/main" id="{B3DE19AD-2330-E97C-7729-981BB4F0AE42}"/>
              </a:ext>
            </a:extLst>
          </p:cNvPr>
          <p:cNvCxnSpPr>
            <a:stCxn id="4" idx="3"/>
            <a:endCxn id="3" idx="1"/>
          </p:cNvCxnSpPr>
          <p:nvPr/>
        </p:nvCxnSpPr>
        <p:spPr>
          <a:xfrm>
            <a:off x="2433484" y="1501878"/>
            <a:ext cx="1401096" cy="7976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8E940AD7-6FAF-45F6-3F5C-9FF7E300E05E}"/>
              </a:ext>
            </a:extLst>
          </p:cNvPr>
          <p:cNvCxnSpPr>
            <a:stCxn id="10" idx="3"/>
            <a:endCxn id="3" idx="2"/>
          </p:cNvCxnSpPr>
          <p:nvPr/>
        </p:nvCxnSpPr>
        <p:spPr>
          <a:xfrm flipV="1">
            <a:off x="3426543" y="2740742"/>
            <a:ext cx="2256502" cy="866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0C27A6DC-4288-3487-02D5-F6773FA1A11D}"/>
              </a:ext>
            </a:extLst>
          </p:cNvPr>
          <p:cNvCxnSpPr>
            <a:stCxn id="8" idx="1"/>
            <a:endCxn id="3" idx="3"/>
          </p:cNvCxnSpPr>
          <p:nvPr/>
        </p:nvCxnSpPr>
        <p:spPr>
          <a:xfrm flipH="1" flipV="1">
            <a:off x="7531509" y="2299519"/>
            <a:ext cx="1332272" cy="103607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07758902-B168-5AB6-DD35-481F55A791DB}"/>
              </a:ext>
            </a:extLst>
          </p:cNvPr>
          <p:cNvCxnSpPr>
            <a:stCxn id="6" idx="1"/>
            <a:endCxn id="3" idx="0"/>
          </p:cNvCxnSpPr>
          <p:nvPr/>
        </p:nvCxnSpPr>
        <p:spPr>
          <a:xfrm flipH="1">
            <a:off x="5683045" y="1230262"/>
            <a:ext cx="412955" cy="62803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3587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04154-759F-F89A-60C8-69A2A345CBBF}"/>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9" name="Entrada de lápiz 8">
                <a:extLst>
                  <a:ext uri="{FF2B5EF4-FFF2-40B4-BE49-F238E27FC236}">
                    <a16:creationId xmlns:a16="http://schemas.microsoft.com/office/drawing/2014/main" id="{050A25DE-4CA8-D7BB-A12C-6E2641573B1F}"/>
                  </a:ext>
                </a:extLst>
              </p14:cNvPr>
              <p14:cNvContentPartPr/>
              <p14:nvPr/>
            </p14:nvContentPartPr>
            <p14:xfrm>
              <a:off x="737209" y="3303228"/>
              <a:ext cx="10353577" cy="360"/>
            </p14:xfrm>
          </p:contentPart>
        </mc:Choice>
        <mc:Fallback>
          <p:pic>
            <p:nvPicPr>
              <p:cNvPr id="9" name="Entrada de lápiz 8">
                <a:extLst>
                  <a:ext uri="{FF2B5EF4-FFF2-40B4-BE49-F238E27FC236}">
                    <a16:creationId xmlns:a16="http://schemas.microsoft.com/office/drawing/2014/main" id="{050A25DE-4CA8-D7BB-A12C-6E2641573B1F}"/>
                  </a:ext>
                </a:extLst>
              </p:cNvPr>
              <p:cNvPicPr/>
              <p:nvPr/>
            </p:nvPicPr>
            <p:blipFill>
              <a:blip r:embed="rId3"/>
              <a:stretch>
                <a:fillRect/>
              </a:stretch>
            </p:blipFill>
            <p:spPr>
              <a:xfrm>
                <a:off x="731089" y="3297108"/>
                <a:ext cx="10365817" cy="12600"/>
              </a:xfrm>
              <a:prstGeom prst="rect">
                <a:avLst/>
              </a:prstGeom>
            </p:spPr>
          </p:pic>
        </mc:Fallback>
      </mc:AlternateContent>
      <p:sp>
        <p:nvSpPr>
          <p:cNvPr id="36" name="CaixaDeTexto 35">
            <a:extLst>
              <a:ext uri="{FF2B5EF4-FFF2-40B4-BE49-F238E27FC236}">
                <a16:creationId xmlns:a16="http://schemas.microsoft.com/office/drawing/2014/main" id="{EF44C103-4593-4837-B7EB-D121FB465B6C}"/>
              </a:ext>
            </a:extLst>
          </p:cNvPr>
          <p:cNvSpPr txBox="1"/>
          <p:nvPr/>
        </p:nvSpPr>
        <p:spPr>
          <a:xfrm>
            <a:off x="9183746" y="2053737"/>
            <a:ext cx="2050562" cy="1138773"/>
          </a:xfrm>
          <a:prstGeom prst="rect">
            <a:avLst/>
          </a:prstGeom>
          <a:noFill/>
        </p:spPr>
        <p:txBody>
          <a:bodyPr wrap="none" rtlCol="0" anchor="ctr" anchorCtr="1">
            <a:spAutoFit/>
          </a:bodyPr>
          <a:lstStyle/>
          <a:p>
            <a:pPr algn="ctr"/>
            <a:r>
              <a:rPr lang="es-CO" sz="6800" dirty="0">
                <a:solidFill>
                  <a:srgbClr val="000000"/>
                </a:solidFill>
              </a:rPr>
              <a:t>2026</a:t>
            </a:r>
          </a:p>
        </p:txBody>
      </p:sp>
      <p:sp>
        <p:nvSpPr>
          <p:cNvPr id="28" name="CuadroTexto 27">
            <a:extLst>
              <a:ext uri="{FF2B5EF4-FFF2-40B4-BE49-F238E27FC236}">
                <a16:creationId xmlns:a16="http://schemas.microsoft.com/office/drawing/2014/main" id="{0F195FFA-CC13-4BA8-ACCB-A72B29775A6A}"/>
              </a:ext>
            </a:extLst>
          </p:cNvPr>
          <p:cNvSpPr txBox="1"/>
          <p:nvPr/>
        </p:nvSpPr>
        <p:spPr>
          <a:xfrm>
            <a:off x="957692" y="2235407"/>
            <a:ext cx="1524776" cy="846386"/>
          </a:xfrm>
          <a:prstGeom prst="rect">
            <a:avLst/>
          </a:prstGeom>
          <a:noFill/>
        </p:spPr>
        <p:txBody>
          <a:bodyPr wrap="none" rtlCol="0" anchor="ctr" anchorCtr="1">
            <a:spAutoFit/>
          </a:bodyPr>
          <a:lstStyle/>
          <a:p>
            <a:pPr algn="ctr"/>
            <a:r>
              <a:rPr lang="es-CO" sz="4900">
                <a:solidFill>
                  <a:srgbClr val="000000"/>
                </a:solidFill>
              </a:rPr>
              <a:t>1989</a:t>
            </a:r>
          </a:p>
        </p:txBody>
      </p:sp>
      <mc:AlternateContent xmlns:mc="http://schemas.openxmlformats.org/markup-compatibility/2006">
        <mc:Choice xmlns:p14="http://schemas.microsoft.com/office/powerpoint/2010/main" Requires="p14">
          <p:contentPart p14:bwMode="auto" r:id="rId4">
            <p14:nvContentPartPr>
              <p14:cNvPr id="29" name="Entrada de lápiz 28">
                <a:extLst>
                  <a:ext uri="{FF2B5EF4-FFF2-40B4-BE49-F238E27FC236}">
                    <a16:creationId xmlns:a16="http://schemas.microsoft.com/office/drawing/2014/main" id="{30913247-34C2-8EA6-D748-D8C3090A0714}"/>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30913247-34C2-8EA6-D748-D8C3090A0714}"/>
                  </a:ext>
                </a:extLst>
              </p:cNvPr>
              <p:cNvPicPr/>
              <p:nvPr/>
            </p:nvPicPr>
            <p:blipFill>
              <a:blip r:embed="rId5"/>
              <a:stretch>
                <a:fillRect/>
              </a:stretch>
            </p:blipFill>
            <p:spPr>
              <a:xfrm>
                <a:off x="-853630" y="3679068"/>
                <a:ext cx="36000" cy="36000"/>
              </a:xfrm>
              <a:prstGeom prst="rect">
                <a:avLst/>
              </a:prstGeom>
            </p:spPr>
          </p:pic>
        </mc:Fallback>
      </mc:AlternateContent>
      <p:sp>
        <p:nvSpPr>
          <p:cNvPr id="53" name="TextBox 52">
            <a:extLst>
              <a:ext uri="{FF2B5EF4-FFF2-40B4-BE49-F238E27FC236}">
                <a16:creationId xmlns:a16="http://schemas.microsoft.com/office/drawing/2014/main" id="{C13DC6A8-83F1-4BBD-89B0-86590573A43B}"/>
              </a:ext>
            </a:extLst>
          </p:cNvPr>
          <p:cNvSpPr txBox="1"/>
          <p:nvPr/>
        </p:nvSpPr>
        <p:spPr>
          <a:xfrm>
            <a:off x="737209" y="167344"/>
            <a:ext cx="6802503" cy="1600438"/>
          </a:xfrm>
          <a:prstGeom prst="rect">
            <a:avLst/>
          </a:prstGeom>
          <a:noFill/>
        </p:spPr>
        <p:txBody>
          <a:bodyPr wrap="none" rtlCol="0" anchor="ctr" anchorCtr="1">
            <a:spAutoFit/>
          </a:bodyPr>
          <a:lstStyle/>
          <a:p>
            <a:pPr algn="ctr"/>
            <a:r>
              <a:rPr lang="es-CO" sz="9800" dirty="0" err="1">
                <a:solidFill>
                  <a:srgbClr val="5B2D90"/>
                </a:solidFill>
              </a:rPr>
              <a:t>ontogenesis</a:t>
            </a:r>
            <a:endParaRPr lang="es-CO" sz="9800" dirty="0">
              <a:solidFill>
                <a:srgbClr val="5B2D90"/>
              </a:solidFill>
            </a:endParaRPr>
          </a:p>
        </p:txBody>
      </p:sp>
      <p:sp>
        <p:nvSpPr>
          <p:cNvPr id="35" name="TextBox 34">
            <a:extLst>
              <a:ext uri="{FF2B5EF4-FFF2-40B4-BE49-F238E27FC236}">
                <a16:creationId xmlns:a16="http://schemas.microsoft.com/office/drawing/2014/main" id="{180C2875-D0F2-471F-87B6-834B4943E961}"/>
              </a:ext>
            </a:extLst>
          </p:cNvPr>
          <p:cNvSpPr txBox="1"/>
          <p:nvPr/>
        </p:nvSpPr>
        <p:spPr>
          <a:xfrm>
            <a:off x="3201175" y="4154231"/>
            <a:ext cx="5789649" cy="1369606"/>
          </a:xfrm>
          <a:prstGeom prst="rect">
            <a:avLst/>
          </a:prstGeom>
          <a:noFill/>
        </p:spPr>
        <p:txBody>
          <a:bodyPr wrap="square" rtlCol="0" anchor="ctr" anchorCtr="1">
            <a:spAutoFit/>
          </a:bodyPr>
          <a:lstStyle/>
          <a:p>
            <a:pPr algn="ctr"/>
            <a:r>
              <a:rPr lang="es-CO" sz="8300" dirty="0" err="1">
                <a:solidFill>
                  <a:srgbClr val="5B2D90"/>
                </a:solidFill>
              </a:rPr>
              <a:t>Filogenesis</a:t>
            </a:r>
            <a:endParaRPr lang="es-CO" sz="8300" dirty="0">
              <a:solidFill>
                <a:srgbClr val="5B2D90"/>
              </a:solidFill>
            </a:endParaRPr>
          </a:p>
        </p:txBody>
      </p:sp>
    </p:spTree>
    <p:extLst>
      <p:ext uri="{BB962C8B-B14F-4D97-AF65-F5344CB8AC3E}">
        <p14:creationId xmlns:p14="http://schemas.microsoft.com/office/powerpoint/2010/main" val="2889647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DF9C-F58A-03E6-C5CF-8A28BD49044A}"/>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9848ADB2-8F62-71DF-244A-D3A84DEBE94F}"/>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9848ADB2-8F62-71DF-244A-D3A84DEBE94F}"/>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982A80A5-EC3F-B857-F05C-7D29F8BD875D}"/>
              </a:ext>
            </a:extLst>
          </p:cNvPr>
          <p:cNvSpPr txBox="1"/>
          <p:nvPr/>
        </p:nvSpPr>
        <p:spPr>
          <a:xfrm>
            <a:off x="2197211" y="278378"/>
            <a:ext cx="7562379" cy="5478423"/>
          </a:xfrm>
          <a:prstGeom prst="rect">
            <a:avLst/>
          </a:prstGeom>
          <a:noFill/>
        </p:spPr>
        <p:txBody>
          <a:bodyPr wrap="square" rtlCol="0" anchor="ctr" anchorCtr="1">
            <a:spAutoFit/>
          </a:bodyPr>
          <a:lstStyle/>
          <a:p>
            <a:r>
              <a:rPr lang="es-CO" sz="1200" b="1" dirty="0">
                <a:solidFill>
                  <a:srgbClr val="5B2D90"/>
                </a:solidFill>
              </a:rPr>
              <a:t>Oralidades</a:t>
            </a:r>
          </a:p>
          <a:p>
            <a:endParaRPr lang="es-CO" sz="1200" dirty="0">
              <a:solidFill>
                <a:srgbClr val="5B2D90"/>
              </a:solidFill>
            </a:endParaRPr>
          </a:p>
          <a:p>
            <a:r>
              <a:rPr lang="es-CO" sz="1200" dirty="0">
                <a:solidFill>
                  <a:srgbClr val="5B2D90"/>
                </a:solidFill>
              </a:rPr>
              <a:t>Mi primer momento fue cuando empecé a decir mamá y papá, mi mamá cuenta que también empecé a decir “dada” cuando quería que me dieran una cuchara, ella comenta que le costo saber a que me refería cuando balbuceaba esa palabra.</a:t>
            </a:r>
          </a:p>
          <a:p>
            <a:endParaRPr lang="es-CO" sz="1200" dirty="0">
              <a:solidFill>
                <a:srgbClr val="5B2D90"/>
              </a:solidFill>
            </a:endParaRPr>
          </a:p>
          <a:p>
            <a:r>
              <a:rPr lang="es-CO" sz="1200" dirty="0">
                <a:solidFill>
                  <a:srgbClr val="5B2D90"/>
                </a:solidFill>
              </a:rPr>
              <a:t>Oralidad en mi momento más alto </a:t>
            </a:r>
          </a:p>
          <a:p>
            <a:endParaRPr lang="es-CO" sz="1200" dirty="0">
              <a:solidFill>
                <a:srgbClr val="5B2D90"/>
              </a:solidFill>
            </a:endParaRPr>
          </a:p>
          <a:p>
            <a:r>
              <a:rPr lang="es-CO" sz="1200" dirty="0">
                <a:solidFill>
                  <a:srgbClr val="5B2D90"/>
                </a:solidFill>
              </a:rPr>
              <a:t>Mi oralidad en el momento mas alto fue cuando aprendí a hablar por que lo hice cantando la canción vuela </a:t>
            </a:r>
            <a:r>
              <a:rPr lang="es-CO" sz="1200" dirty="0" err="1">
                <a:solidFill>
                  <a:srgbClr val="5B2D90"/>
                </a:solidFill>
              </a:rPr>
              <a:t>vuela</a:t>
            </a:r>
            <a:r>
              <a:rPr lang="es-CO" sz="1200" dirty="0">
                <a:solidFill>
                  <a:srgbClr val="5B2D90"/>
                </a:solidFill>
              </a:rPr>
              <a:t>  de…., hubo algo con la relación entre la música y la oralidad que aprendí a hablar rápido.</a:t>
            </a:r>
          </a:p>
          <a:p>
            <a:r>
              <a:rPr lang="es-CO" sz="1200" dirty="0">
                <a:solidFill>
                  <a:srgbClr val="5B2D90"/>
                </a:solidFill>
              </a:rPr>
              <a:t>Por otra parte en mi infancia, cuando en la escuela descubrieron  mi habilidad para recitar, hacer sainetes,  pero lo que más recuerdo fue una obra que tuvimos que presentar prácticamente en frente a todo el pueblo  , repasamos tanto con mis compañeros que nos fue muy bien y logramos sacar muchas sonrisas al público. </a:t>
            </a:r>
          </a:p>
          <a:p>
            <a:endParaRPr lang="es-CO" sz="1200" dirty="0">
              <a:solidFill>
                <a:srgbClr val="5B2D90"/>
              </a:solidFill>
            </a:endParaRPr>
          </a:p>
          <a:p>
            <a:r>
              <a:rPr lang="es-CO" sz="1200" dirty="0">
                <a:solidFill>
                  <a:srgbClr val="5B2D90"/>
                </a:solidFill>
              </a:rPr>
              <a:t>Mi momento más difícil fue cuando  era niño, salimos a jugar con mis primos y se hizo tarde, entre todos quedamos en decir que algo nos había pasado, pero al final ellos dijeron la verdad , quedando en ridículo frente a toda mi familia que se encontraba reunida en la casa de mi abuela, ese día fue muy difícil porque no sabia a donde esconderme y fui obligado a explicar lo que había pasado.</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Tree>
    <p:extLst>
      <p:ext uri="{BB962C8B-B14F-4D97-AF65-F5344CB8AC3E}">
        <p14:creationId xmlns:p14="http://schemas.microsoft.com/office/powerpoint/2010/main" val="629636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E3A6C-84A2-3EE2-3EEF-337F457C71D2}"/>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0E6AE061-8733-A33B-5FD0-878B743F45D4}"/>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0E6AE061-8733-A33B-5FD0-878B743F45D4}"/>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8E0A6568-BA22-B582-AAE5-B69C1EA1EADD}"/>
              </a:ext>
            </a:extLst>
          </p:cNvPr>
          <p:cNvSpPr txBox="1"/>
          <p:nvPr/>
        </p:nvSpPr>
        <p:spPr>
          <a:xfrm>
            <a:off x="5238750" y="498911"/>
            <a:ext cx="2183170" cy="2893100"/>
          </a:xfrm>
          <a:prstGeom prst="rect">
            <a:avLst/>
          </a:prstGeom>
          <a:noFill/>
        </p:spPr>
        <p:txBody>
          <a:bodyPr wrap="square" rtlCol="0" anchor="ctr" anchorCtr="1">
            <a:spAutoFit/>
          </a:bodyPr>
          <a:lstStyle/>
          <a:p>
            <a:r>
              <a:rPr lang="es-CO" sz="1200" dirty="0">
                <a:solidFill>
                  <a:srgbClr val="5B2D90"/>
                </a:solidFill>
              </a:rPr>
              <a:t> </a:t>
            </a:r>
          </a:p>
          <a:p>
            <a:endParaRPr lang="es-CO" sz="1200" dirty="0">
              <a:solidFill>
                <a:srgbClr val="5B2D90"/>
              </a:solidFill>
            </a:endParaRP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
        <p:nvSpPr>
          <p:cNvPr id="3" name="TextBox 52">
            <a:extLst>
              <a:ext uri="{FF2B5EF4-FFF2-40B4-BE49-F238E27FC236}">
                <a16:creationId xmlns:a16="http://schemas.microsoft.com/office/drawing/2014/main" id="{3B8EF73D-5C75-EF28-0975-23438C0F9481}"/>
              </a:ext>
            </a:extLst>
          </p:cNvPr>
          <p:cNvSpPr txBox="1"/>
          <p:nvPr/>
        </p:nvSpPr>
        <p:spPr>
          <a:xfrm>
            <a:off x="375630" y="1296532"/>
            <a:ext cx="11261199" cy="3816429"/>
          </a:xfrm>
          <a:prstGeom prst="rect">
            <a:avLst/>
          </a:prstGeom>
          <a:noFill/>
        </p:spPr>
        <p:txBody>
          <a:bodyPr wrap="square" rtlCol="0" anchor="ctr" anchorCtr="1">
            <a:spAutoFit/>
          </a:bodyPr>
          <a:lstStyle/>
          <a:p>
            <a:r>
              <a:rPr lang="es-CO" sz="1200" b="1" dirty="0">
                <a:solidFill>
                  <a:srgbClr val="5B2D90"/>
                </a:solidFill>
              </a:rPr>
              <a:t>Escrituras</a:t>
            </a:r>
          </a:p>
          <a:p>
            <a:endParaRPr lang="es-CO" sz="1200" b="1" dirty="0">
              <a:solidFill>
                <a:srgbClr val="5B2D90"/>
              </a:solidFill>
            </a:endParaRPr>
          </a:p>
          <a:p>
            <a:r>
              <a:rPr lang="es-CO" sz="1200" b="1" dirty="0">
                <a:solidFill>
                  <a:srgbClr val="5B2D90"/>
                </a:solidFill>
              </a:rPr>
              <a:t>Cuando aprendí a escribir  fuer en el jardín, cuenta mi mamá que aprendí a hacer bolitas y palitos y cuando fui al jardín aprendí a realizar las vocales de una manera más fácil porque ya tenia desarrollada la motricidad  fina.</a:t>
            </a:r>
          </a:p>
          <a:p>
            <a:endParaRPr lang="es-CO" sz="1200" b="1" dirty="0">
              <a:solidFill>
                <a:srgbClr val="5B2D90"/>
              </a:solidFill>
            </a:endParaRPr>
          </a:p>
          <a:p>
            <a:r>
              <a:rPr lang="es-CO" sz="1200" b="1" dirty="0">
                <a:solidFill>
                  <a:srgbClr val="5B2D90"/>
                </a:solidFill>
              </a:rPr>
              <a:t>Mi momento culmen fue en la universidad, recuerdo que tenia muy mala ortografía, pero gracias a una materia  del  profesor José Luís Romo aprendí a escribir de manera correcta, tuve que esforzarme mucho por aprender a colocar las tildes  y también  los signos de puntuación,  porque no se aceptaban errores de puntuación, es así que mi articulo fue publicado a la primera edición y no tuve correcciones. </a:t>
            </a:r>
          </a:p>
          <a:p>
            <a:endParaRPr lang="es-CO" sz="1200" b="1" dirty="0">
              <a:solidFill>
                <a:srgbClr val="5B2D90"/>
              </a:solidFill>
            </a:endParaRPr>
          </a:p>
          <a:p>
            <a:r>
              <a:rPr lang="es-CO" sz="1200" b="1" dirty="0">
                <a:solidFill>
                  <a:srgbClr val="5B2D90"/>
                </a:solidFill>
              </a:rPr>
              <a:t>Mi momento más difícil fue en el colegio, porque mi letra era y sigue siendo fea, recuerdo que la profesoras de español me hizo quedar mal en frente  a todos mis compañeros porque me recalco , que para colmo la letra de mis otros hermanos eran fea. Ahora escribo diferente, y intento mejorar ya fuer en la universidad.</a:t>
            </a:r>
          </a:p>
          <a:p>
            <a:endParaRPr lang="es-CO" sz="1200" b="1" dirty="0">
              <a:solidFill>
                <a:srgbClr val="5B2D90"/>
              </a:solidFill>
            </a:endParaRPr>
          </a:p>
          <a:p>
            <a:endParaRPr lang="es-CO" sz="9800" dirty="0">
              <a:solidFill>
                <a:srgbClr val="5B2D90"/>
              </a:solidFill>
            </a:endParaRPr>
          </a:p>
        </p:txBody>
      </p:sp>
    </p:spTree>
    <p:extLst>
      <p:ext uri="{BB962C8B-B14F-4D97-AF65-F5344CB8AC3E}">
        <p14:creationId xmlns:p14="http://schemas.microsoft.com/office/powerpoint/2010/main" val="211478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C610B-CE17-D820-BD8F-36D89294CDFA}"/>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5E4CDBE1-E667-6937-6B6B-E1B86EC4249C}"/>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5E4CDBE1-E667-6937-6B6B-E1B86EC4249C}"/>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D8FD6CAE-BB0B-BA87-0CC8-8FADE4E60DAD}"/>
              </a:ext>
            </a:extLst>
          </p:cNvPr>
          <p:cNvSpPr txBox="1"/>
          <p:nvPr/>
        </p:nvSpPr>
        <p:spPr>
          <a:xfrm>
            <a:off x="1968500" y="-491460"/>
            <a:ext cx="2183170" cy="2893100"/>
          </a:xfrm>
          <a:prstGeom prst="rect">
            <a:avLst/>
          </a:prstGeom>
          <a:noFill/>
        </p:spPr>
        <p:txBody>
          <a:bodyPr wrap="square" rtlCol="0" anchor="ctr" anchorCtr="1">
            <a:spAutoFit/>
          </a:bodyPr>
          <a:lstStyle/>
          <a:p>
            <a:r>
              <a:rPr lang="es-CO" sz="1200" dirty="0">
                <a:solidFill>
                  <a:srgbClr val="5B2D90"/>
                </a:solidFill>
              </a:rPr>
              <a:t> </a:t>
            </a:r>
          </a:p>
          <a:p>
            <a:endParaRPr lang="es-CO" sz="1200" dirty="0">
              <a:solidFill>
                <a:srgbClr val="5B2D90"/>
              </a:solidFill>
            </a:endParaRP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
        <p:nvSpPr>
          <p:cNvPr id="3" name="TextBox 52">
            <a:extLst>
              <a:ext uri="{FF2B5EF4-FFF2-40B4-BE49-F238E27FC236}">
                <a16:creationId xmlns:a16="http://schemas.microsoft.com/office/drawing/2014/main" id="{3ABF7FF1-B4D3-5C78-AD82-8F12EFA7F7DF}"/>
              </a:ext>
            </a:extLst>
          </p:cNvPr>
          <p:cNvSpPr txBox="1"/>
          <p:nvPr/>
        </p:nvSpPr>
        <p:spPr>
          <a:xfrm>
            <a:off x="1110413" y="2401640"/>
            <a:ext cx="7562379" cy="3231654"/>
          </a:xfrm>
          <a:prstGeom prst="rect">
            <a:avLst/>
          </a:prstGeom>
          <a:noFill/>
        </p:spPr>
        <p:txBody>
          <a:bodyPr wrap="square" rtlCol="0" anchor="ctr" anchorCtr="1">
            <a:spAutoFit/>
          </a:bodyPr>
          <a:lstStyle/>
          <a:p>
            <a:r>
              <a:rPr lang="es-CO" sz="1200" b="1" dirty="0">
                <a:solidFill>
                  <a:srgbClr val="5B2D90"/>
                </a:solidFill>
              </a:rPr>
              <a:t>Tecno mediado/ mundo mecánico/ electrónico</a:t>
            </a:r>
          </a:p>
          <a:p>
            <a:endParaRPr lang="es-CO" sz="1200" b="1" dirty="0">
              <a:solidFill>
                <a:srgbClr val="5B2D90"/>
              </a:solidFill>
            </a:endParaRPr>
          </a:p>
          <a:p>
            <a:r>
              <a:rPr lang="es-CO" sz="1200" b="1" dirty="0">
                <a:solidFill>
                  <a:srgbClr val="5B2D90"/>
                </a:solidFill>
              </a:rPr>
              <a:t>Mi primer encuentro con la tecnología fue en mi infancia, mi papa nos había comprado unos  que emitían un sonido particular, pero no  de la mejor manera, recuerdo haber usado un martillo para romper el juguete y ver por que emitía ese sonido, fui castigado por supuesto.</a:t>
            </a:r>
          </a:p>
          <a:p>
            <a:endParaRPr lang="es-CO" sz="1200" b="1" dirty="0">
              <a:solidFill>
                <a:srgbClr val="5B2D90"/>
              </a:solidFill>
            </a:endParaRPr>
          </a:p>
          <a:p>
            <a:endParaRPr lang="es-CO" sz="1200" b="1" dirty="0">
              <a:solidFill>
                <a:srgbClr val="5B2D90"/>
              </a:solidFill>
            </a:endParaRPr>
          </a:p>
          <a:p>
            <a:r>
              <a:rPr lang="es-CO" sz="1200" b="1" dirty="0">
                <a:solidFill>
                  <a:srgbClr val="5B2D90"/>
                </a:solidFill>
              </a:rPr>
              <a:t>Mi momento más difícil con la tecnología fue cuando estaba en grado sexto, en la  casa solo había una máquina de escribir y teníamos que turnarnos con mis hermanos para realizar los trabajos,  después de todo  logramos un familiar nos preste  otra maquina de escribir pero  realizar los trabajos igual fue difícil  porque era  muy pesada para nuestra edad y teníamos que caminar mucho para regresar a devolverla.</a:t>
            </a:r>
          </a:p>
          <a:p>
            <a:endParaRPr lang="es-CO" sz="1200" b="1" dirty="0">
              <a:solidFill>
                <a:srgbClr val="5B2D90"/>
              </a:solidFill>
            </a:endParaRPr>
          </a:p>
          <a:p>
            <a:r>
              <a:rPr lang="es-CO" sz="1200" b="1" dirty="0">
                <a:solidFill>
                  <a:srgbClr val="5B2D90"/>
                </a:solidFill>
              </a:rPr>
              <a:t>Mi mejor momento fue cuando mi papa compro un televisor, recuerdo que visitábamos la casa de mi abuelo para poder mirar la televisión, y no teníamos permiso de ver dibujos animados, especialmente dragón Ball z , mi abuelo decía que “ esas cosas eran del diablo”, cuando llego el primer televisor a nuestro  con mis hermanos pudimos mirar los dibujos animados que nos gustaban sin restricciones que se daban en la casa de mi abuelo. </a:t>
            </a:r>
            <a:endParaRPr lang="es-CO" sz="9800" dirty="0">
              <a:solidFill>
                <a:srgbClr val="5B2D90"/>
              </a:solidFill>
            </a:endParaRPr>
          </a:p>
        </p:txBody>
      </p:sp>
    </p:spTree>
    <p:extLst>
      <p:ext uri="{BB962C8B-B14F-4D97-AF65-F5344CB8AC3E}">
        <p14:creationId xmlns:p14="http://schemas.microsoft.com/office/powerpoint/2010/main" val="65501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B3490-45B9-BE82-D02E-8479654F8235}"/>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8B246241-E4D3-1F17-8859-E00D2E91382A}"/>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8B246241-E4D3-1F17-8859-E00D2E91382A}"/>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D04F8EF4-111E-D076-9578-1A8AF9C98EB3}"/>
              </a:ext>
            </a:extLst>
          </p:cNvPr>
          <p:cNvSpPr txBox="1"/>
          <p:nvPr/>
        </p:nvSpPr>
        <p:spPr>
          <a:xfrm>
            <a:off x="1968500" y="-491460"/>
            <a:ext cx="2183170" cy="2893100"/>
          </a:xfrm>
          <a:prstGeom prst="rect">
            <a:avLst/>
          </a:prstGeom>
          <a:noFill/>
        </p:spPr>
        <p:txBody>
          <a:bodyPr wrap="square" rtlCol="0" anchor="ctr" anchorCtr="1">
            <a:spAutoFit/>
          </a:bodyPr>
          <a:lstStyle/>
          <a:p>
            <a:r>
              <a:rPr lang="es-CO" sz="1200" dirty="0">
                <a:solidFill>
                  <a:srgbClr val="5B2D90"/>
                </a:solidFill>
              </a:rPr>
              <a:t> </a:t>
            </a:r>
          </a:p>
          <a:p>
            <a:endParaRPr lang="es-CO" sz="1200" dirty="0">
              <a:solidFill>
                <a:srgbClr val="5B2D90"/>
              </a:solidFill>
            </a:endParaRP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
        <p:nvSpPr>
          <p:cNvPr id="3" name="TextBox 52">
            <a:extLst>
              <a:ext uri="{FF2B5EF4-FFF2-40B4-BE49-F238E27FC236}">
                <a16:creationId xmlns:a16="http://schemas.microsoft.com/office/drawing/2014/main" id="{2B5C8A71-FE8B-E0C6-55BA-899DC464FF00}"/>
              </a:ext>
            </a:extLst>
          </p:cNvPr>
          <p:cNvSpPr txBox="1"/>
          <p:nvPr/>
        </p:nvSpPr>
        <p:spPr>
          <a:xfrm>
            <a:off x="950393" y="564327"/>
            <a:ext cx="7562379" cy="3416320"/>
          </a:xfrm>
          <a:prstGeom prst="rect">
            <a:avLst/>
          </a:prstGeom>
          <a:noFill/>
        </p:spPr>
        <p:txBody>
          <a:bodyPr wrap="square" rtlCol="0" anchor="ctr" anchorCtr="1">
            <a:spAutoFit/>
          </a:bodyPr>
          <a:lstStyle/>
          <a:p>
            <a:r>
              <a:rPr lang="es-CO" sz="1200" b="1" dirty="0">
                <a:solidFill>
                  <a:srgbClr val="5B2D90"/>
                </a:solidFill>
              </a:rPr>
              <a:t>Tecno mediado/ mundo mecánico/ electrónico</a:t>
            </a:r>
          </a:p>
          <a:p>
            <a:endParaRPr lang="es-CO" sz="1200" b="1" dirty="0">
              <a:solidFill>
                <a:srgbClr val="5B2D90"/>
              </a:solidFill>
            </a:endParaRPr>
          </a:p>
          <a:p>
            <a:r>
              <a:rPr lang="es-CO" sz="1200" b="1" dirty="0">
                <a:solidFill>
                  <a:srgbClr val="5B2D90"/>
                </a:solidFill>
              </a:rPr>
              <a:t>Mi primer encuentro con la tecnología fue en mi infancia, mi papa nos había comprado unos  que emitían un sonido particular, pero no  de la mejor manera, recuerdo haber usado un martillo para romper el juguete y ver por que emitía ese sonido, fui castigado por supuesto. Recuerdo también momentos de felicidad que daba el poder hablar con mi papa que se encontraba lejos por situaciones de trabajo y la manera como el teléfono nos acercaba y le contaba mis ocurrencias dey todo lo que había realizado durante la semana. </a:t>
            </a:r>
          </a:p>
          <a:p>
            <a:endParaRPr lang="es-CO" sz="1200" b="1" dirty="0">
              <a:solidFill>
                <a:srgbClr val="5B2D90"/>
              </a:solidFill>
            </a:endParaRPr>
          </a:p>
          <a:p>
            <a:endParaRPr lang="es-CO" sz="1200" b="1" dirty="0">
              <a:solidFill>
                <a:srgbClr val="5B2D90"/>
              </a:solidFill>
            </a:endParaRPr>
          </a:p>
          <a:p>
            <a:r>
              <a:rPr lang="es-CO" sz="1200" b="1" dirty="0">
                <a:solidFill>
                  <a:srgbClr val="5B2D90"/>
                </a:solidFill>
              </a:rPr>
              <a:t>Mi momento más difícil con la tecnología fue cuando estaba en grado sexto, en la  casa solo había una máquina de escribir y teníamos que turnarnos con mis hermanos para realizar los trabajos,  después de todo  logramos un familiar nos preste  otra maquina de escribir pero  realizar los trabajos igual fue difícil  porque era  muy pesada para nuestra edad y teníamos que caminar mucho para regresar a devolverla.</a:t>
            </a:r>
          </a:p>
          <a:p>
            <a:endParaRPr lang="es-CO" sz="1200" b="1" dirty="0">
              <a:solidFill>
                <a:srgbClr val="5B2D90"/>
              </a:solidFill>
            </a:endParaRPr>
          </a:p>
          <a:p>
            <a:r>
              <a:rPr lang="es-CO" sz="1200" b="1" dirty="0">
                <a:solidFill>
                  <a:srgbClr val="5B2D90"/>
                </a:solidFill>
              </a:rPr>
              <a:t>Mi mejor momento fue cuando mi papa compro un televisor, recuerdo que visitábamos la casa de mi abuelo para poder mirar la televisión, y no teníamos permiso de ver dibujos animados, especialmente dragón Ball z , mi abuelo decía que “ esas cosas eran del diablo”, cuando llego el primer televisor a nuestro  hogar por  fin logramos mirar los dibujos animados que nos gustaban sin restricciones </a:t>
            </a:r>
            <a:endParaRPr lang="es-CO" sz="9800" dirty="0">
              <a:solidFill>
                <a:srgbClr val="5B2D90"/>
              </a:solidFill>
            </a:endParaRPr>
          </a:p>
        </p:txBody>
      </p:sp>
    </p:spTree>
    <p:extLst>
      <p:ext uri="{BB962C8B-B14F-4D97-AF65-F5344CB8AC3E}">
        <p14:creationId xmlns:p14="http://schemas.microsoft.com/office/powerpoint/2010/main" val="3564840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54D4-26A4-ED7E-A759-B5A516D845BA}"/>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DA2E29AC-9656-C717-1247-6F2582B2F87E}"/>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DA2E29AC-9656-C717-1247-6F2582B2F87E}"/>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E1ABE1FF-F29D-A687-4E41-3C9EE1D4D65F}"/>
              </a:ext>
            </a:extLst>
          </p:cNvPr>
          <p:cNvSpPr txBox="1"/>
          <p:nvPr/>
        </p:nvSpPr>
        <p:spPr>
          <a:xfrm>
            <a:off x="5238750" y="498911"/>
            <a:ext cx="2183170" cy="2893100"/>
          </a:xfrm>
          <a:prstGeom prst="rect">
            <a:avLst/>
          </a:prstGeom>
          <a:noFill/>
        </p:spPr>
        <p:txBody>
          <a:bodyPr wrap="square" rtlCol="0" anchor="ctr" anchorCtr="1">
            <a:spAutoFit/>
          </a:bodyPr>
          <a:lstStyle/>
          <a:p>
            <a:r>
              <a:rPr lang="es-CO" sz="1200" dirty="0">
                <a:solidFill>
                  <a:srgbClr val="5B2D90"/>
                </a:solidFill>
              </a:rPr>
              <a:t> </a:t>
            </a:r>
          </a:p>
          <a:p>
            <a:endParaRPr lang="es-CO" sz="1200" dirty="0">
              <a:solidFill>
                <a:srgbClr val="5B2D90"/>
              </a:solidFill>
            </a:endParaRP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
        <p:nvSpPr>
          <p:cNvPr id="4" name="TextBox 52">
            <a:extLst>
              <a:ext uri="{FF2B5EF4-FFF2-40B4-BE49-F238E27FC236}">
                <a16:creationId xmlns:a16="http://schemas.microsoft.com/office/drawing/2014/main" id="{CA417CC1-2F6A-72F5-A88E-79A453EA1717}"/>
              </a:ext>
            </a:extLst>
          </p:cNvPr>
          <p:cNvSpPr txBox="1"/>
          <p:nvPr/>
        </p:nvSpPr>
        <p:spPr>
          <a:xfrm>
            <a:off x="813233" y="916324"/>
            <a:ext cx="7562379" cy="2862322"/>
          </a:xfrm>
          <a:prstGeom prst="rect">
            <a:avLst/>
          </a:prstGeom>
          <a:noFill/>
        </p:spPr>
        <p:txBody>
          <a:bodyPr wrap="square" rtlCol="0" anchor="ctr" anchorCtr="1">
            <a:spAutoFit/>
          </a:bodyPr>
          <a:lstStyle/>
          <a:p>
            <a:r>
              <a:rPr lang="es-CO" sz="1200" b="1" dirty="0">
                <a:solidFill>
                  <a:srgbClr val="5B2D90"/>
                </a:solidFill>
              </a:rPr>
              <a:t>Era digital</a:t>
            </a:r>
          </a:p>
          <a:p>
            <a:endParaRPr lang="es-CO" sz="1200" b="1" dirty="0">
              <a:solidFill>
                <a:srgbClr val="5B2D90"/>
              </a:solidFill>
            </a:endParaRPr>
          </a:p>
          <a:p>
            <a:r>
              <a:rPr lang="es-CO" sz="1200" b="1" dirty="0">
                <a:solidFill>
                  <a:srgbClr val="5B2D90"/>
                </a:solidFill>
              </a:rPr>
              <a:t>Mi primer encuentro se dio en mi colegio, donde empezamos a usar computadores, recuerdo que teníamos que llevar un disquete para guardar los trabajos que se realizaban en computadores con Windows 95 </a:t>
            </a:r>
          </a:p>
          <a:p>
            <a:endParaRPr lang="es-CO" sz="1200" b="1" dirty="0">
              <a:solidFill>
                <a:srgbClr val="5B2D90"/>
              </a:solidFill>
            </a:endParaRPr>
          </a:p>
          <a:p>
            <a:r>
              <a:rPr lang="es-CO" sz="1200" b="1" dirty="0">
                <a:solidFill>
                  <a:srgbClr val="5B2D90"/>
                </a:solidFill>
              </a:rPr>
              <a:t> mi momento culmen en la era digital fue realizando el trabajo de grado, me correspondía realizar la programación del sitio web, por esa situación tuve que aprender cosas que no se enseñaban en la universidad, y gracias al trabajo junto a mis compañeros logramos obtener como resultado un trabajo de grado laureado. </a:t>
            </a:r>
          </a:p>
          <a:p>
            <a:endParaRPr lang="es-CO" sz="1200" b="1" dirty="0">
              <a:solidFill>
                <a:srgbClr val="5B2D90"/>
              </a:solidFill>
            </a:endParaRPr>
          </a:p>
          <a:p>
            <a:r>
              <a:rPr lang="es-CO" sz="1200" b="1" dirty="0">
                <a:solidFill>
                  <a:srgbClr val="5B2D90"/>
                </a:solidFill>
              </a:rPr>
              <a:t>Mi momento más difícil fue en una catedra de  formación humanística en la Universidad, ya que por mis conocimientos obtenidos en semestres de la carrera hice un buen ejercicio en la entrega de un trabajo, pero el profesor me puso cero porque no creía que yo había realizado la edición un video , recuerdo  me toco volver a realizar el trabajo frente a el para convencerlo que yo era el autor de la edición. Fue un momento muy frustrante porque me había esforzado.</a:t>
            </a:r>
            <a:endParaRPr lang="es-CO" sz="9800" dirty="0">
              <a:solidFill>
                <a:srgbClr val="5B2D90"/>
              </a:solidFill>
            </a:endParaRPr>
          </a:p>
        </p:txBody>
      </p:sp>
    </p:spTree>
    <p:extLst>
      <p:ext uri="{BB962C8B-B14F-4D97-AF65-F5344CB8AC3E}">
        <p14:creationId xmlns:p14="http://schemas.microsoft.com/office/powerpoint/2010/main" val="354286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B7EC2-D37B-5ABA-F5B6-E878A51D7ACB}"/>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89CC2793-A501-0DDD-D4FE-AC896B3CB00F}"/>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89CC2793-A501-0DDD-D4FE-AC896B3CB00F}"/>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DE79023B-0594-2A5B-0A89-745A3FCCFD2E}"/>
              </a:ext>
            </a:extLst>
          </p:cNvPr>
          <p:cNvSpPr txBox="1"/>
          <p:nvPr/>
        </p:nvSpPr>
        <p:spPr>
          <a:xfrm>
            <a:off x="5238750" y="498911"/>
            <a:ext cx="2183170" cy="2893100"/>
          </a:xfrm>
          <a:prstGeom prst="rect">
            <a:avLst/>
          </a:prstGeom>
          <a:noFill/>
        </p:spPr>
        <p:txBody>
          <a:bodyPr wrap="square" rtlCol="0" anchor="ctr" anchorCtr="1">
            <a:spAutoFit/>
          </a:bodyPr>
          <a:lstStyle/>
          <a:p>
            <a:r>
              <a:rPr lang="es-CO" sz="1200" dirty="0">
                <a:solidFill>
                  <a:srgbClr val="5B2D90"/>
                </a:solidFill>
              </a:rPr>
              <a:t> </a:t>
            </a:r>
          </a:p>
          <a:p>
            <a:endParaRPr lang="es-CO" sz="1200" dirty="0">
              <a:solidFill>
                <a:srgbClr val="5B2D90"/>
              </a:solidFill>
            </a:endParaRP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
        <p:nvSpPr>
          <p:cNvPr id="4" name="TextBox 52">
            <a:extLst>
              <a:ext uri="{FF2B5EF4-FFF2-40B4-BE49-F238E27FC236}">
                <a16:creationId xmlns:a16="http://schemas.microsoft.com/office/drawing/2014/main" id="{517D19BB-E2A9-D4DC-238F-E1F790E47144}"/>
              </a:ext>
            </a:extLst>
          </p:cNvPr>
          <p:cNvSpPr txBox="1"/>
          <p:nvPr/>
        </p:nvSpPr>
        <p:spPr>
          <a:xfrm>
            <a:off x="813233" y="823991"/>
            <a:ext cx="7562379" cy="3046988"/>
          </a:xfrm>
          <a:prstGeom prst="rect">
            <a:avLst/>
          </a:prstGeom>
          <a:noFill/>
        </p:spPr>
        <p:txBody>
          <a:bodyPr wrap="square" rtlCol="0" anchor="ctr" anchorCtr="1">
            <a:spAutoFit/>
          </a:bodyPr>
          <a:lstStyle/>
          <a:p>
            <a:r>
              <a:rPr lang="es-CO" sz="1200" b="1" dirty="0">
                <a:solidFill>
                  <a:srgbClr val="5B2D90"/>
                </a:solidFill>
              </a:rPr>
              <a:t>Era socio digital/ redes</a:t>
            </a:r>
          </a:p>
          <a:p>
            <a:endParaRPr lang="es-CO" sz="1200" b="1" dirty="0">
              <a:solidFill>
                <a:srgbClr val="5B2D90"/>
              </a:solidFill>
            </a:endParaRPr>
          </a:p>
          <a:p>
            <a:endParaRPr lang="es-CO" sz="1200" b="1" dirty="0">
              <a:solidFill>
                <a:srgbClr val="5B2D90"/>
              </a:solidFill>
            </a:endParaRPr>
          </a:p>
          <a:p>
            <a:r>
              <a:rPr lang="es-CO" sz="1200" b="1" dirty="0">
                <a:solidFill>
                  <a:srgbClr val="5B2D90"/>
                </a:solidFill>
              </a:rPr>
              <a:t>Mi primer encuentro se dio en un sala de internet en mi pueblo, y la creación de mi perfil de hi5, fue un momento especial porque hice amistad con una amiga que vive en Ecuador y aun mantenemos contacto después de mucho tiempo y  a pesar de la distancia. </a:t>
            </a:r>
          </a:p>
          <a:p>
            <a:endParaRPr lang="es-CO" sz="1200" b="1" dirty="0">
              <a:solidFill>
                <a:srgbClr val="5B2D90"/>
              </a:solidFill>
            </a:endParaRPr>
          </a:p>
          <a:p>
            <a:r>
              <a:rPr lang="es-CO" sz="1200" b="1" dirty="0">
                <a:solidFill>
                  <a:srgbClr val="5B2D90"/>
                </a:solidFill>
              </a:rPr>
              <a:t>Mi mejor momento se da cuando por la situación de la pandemia tuve que dictar clases durante mi practicas docente, hice lo posible para mantener atentos a mis estudiantes que inclusive para hacer mas atractivas las clases ellos tuvieron que aprender a editas videos y presentarlos durante la clase, fue muy satisfactorio porque fue bonito ver como explicaban sus tareas y en muchas ocasiones eran ayudados por sus papas, me gusto mucho la experiencia, incluso hice un artículo sobre esos momentos.</a:t>
            </a:r>
          </a:p>
          <a:p>
            <a:endParaRPr lang="es-CO" sz="1200" b="1" dirty="0">
              <a:solidFill>
                <a:srgbClr val="5B2D90"/>
              </a:solidFill>
            </a:endParaRPr>
          </a:p>
          <a:p>
            <a:r>
              <a:rPr lang="es-CO" sz="1200" b="1" dirty="0">
                <a:solidFill>
                  <a:srgbClr val="5B2D90"/>
                </a:solidFill>
              </a:rPr>
              <a:t>Creoque no he tenido experiencias </a:t>
            </a:r>
            <a:r>
              <a:rPr lang="es-CO" sz="1200" b="1" dirty="0" err="1">
                <a:solidFill>
                  <a:srgbClr val="5B2D90"/>
                </a:solidFill>
              </a:rPr>
              <a:t>dificeles</a:t>
            </a:r>
            <a:r>
              <a:rPr lang="es-CO" sz="1200" b="1" dirty="0">
                <a:solidFill>
                  <a:srgbClr val="5B2D90"/>
                </a:solidFill>
              </a:rPr>
              <a:t> en cuanto s lo socio </a:t>
            </a:r>
            <a:r>
              <a:rPr lang="es-CO" sz="1200" b="1" dirty="0" err="1">
                <a:solidFill>
                  <a:srgbClr val="5B2D90"/>
                </a:solidFill>
              </a:rPr>
              <a:t>digitsl</a:t>
            </a:r>
            <a:r>
              <a:rPr lang="es-CO" sz="1200" b="1" dirty="0">
                <a:solidFill>
                  <a:srgbClr val="5B2D90"/>
                </a:solidFill>
              </a:rPr>
              <a:t> o no lo recuerdo, o quizás las situaciones que me han pasado no me han marcado tanto y por eso no les doy importancia  </a:t>
            </a:r>
          </a:p>
          <a:p>
            <a:endParaRPr lang="es-CO" sz="1200" b="1" dirty="0">
              <a:solidFill>
                <a:srgbClr val="5B2D90"/>
              </a:solidFill>
            </a:endParaRPr>
          </a:p>
        </p:txBody>
      </p:sp>
    </p:spTree>
    <p:extLst>
      <p:ext uri="{BB962C8B-B14F-4D97-AF65-F5344CB8AC3E}">
        <p14:creationId xmlns:p14="http://schemas.microsoft.com/office/powerpoint/2010/main" val="2564652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377D-3846-1D59-D42A-F5A6F5FBAAC3}"/>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9" name="Entrada de lápiz 28">
                <a:extLst>
                  <a:ext uri="{FF2B5EF4-FFF2-40B4-BE49-F238E27FC236}">
                    <a16:creationId xmlns:a16="http://schemas.microsoft.com/office/drawing/2014/main" id="{673B4BF6-E42A-7C81-2EDA-EDB8F87CB1C5}"/>
                  </a:ext>
                </a:extLst>
              </p14:cNvPr>
              <p14:cNvContentPartPr/>
              <p14:nvPr/>
            </p14:nvContentPartPr>
            <p14:xfrm>
              <a:off x="-835990" y="3696708"/>
              <a:ext cx="360" cy="360"/>
            </p14:xfrm>
          </p:contentPart>
        </mc:Choice>
        <mc:Fallback>
          <p:pic>
            <p:nvPicPr>
              <p:cNvPr id="29" name="Entrada de lápiz 28">
                <a:extLst>
                  <a:ext uri="{FF2B5EF4-FFF2-40B4-BE49-F238E27FC236}">
                    <a16:creationId xmlns:a16="http://schemas.microsoft.com/office/drawing/2014/main" id="{673B4BF6-E42A-7C81-2EDA-EDB8F87CB1C5}"/>
                  </a:ext>
                </a:extLst>
              </p:cNvPr>
              <p:cNvPicPr/>
              <p:nvPr/>
            </p:nvPicPr>
            <p:blipFill>
              <a:blip r:embed="rId3"/>
              <a:stretch>
                <a:fillRect/>
              </a:stretch>
            </p:blipFill>
            <p:spPr>
              <a:xfrm>
                <a:off x="-853990" y="3678708"/>
                <a:ext cx="36000" cy="36000"/>
              </a:xfrm>
              <a:prstGeom prst="rect">
                <a:avLst/>
              </a:prstGeom>
            </p:spPr>
          </p:pic>
        </mc:Fallback>
      </mc:AlternateContent>
      <p:sp>
        <p:nvSpPr>
          <p:cNvPr id="53" name="TextBox 52">
            <a:extLst>
              <a:ext uri="{FF2B5EF4-FFF2-40B4-BE49-F238E27FC236}">
                <a16:creationId xmlns:a16="http://schemas.microsoft.com/office/drawing/2014/main" id="{0103177F-D6F7-A19F-4FB3-9482B730C784}"/>
              </a:ext>
            </a:extLst>
          </p:cNvPr>
          <p:cNvSpPr txBox="1"/>
          <p:nvPr/>
        </p:nvSpPr>
        <p:spPr>
          <a:xfrm>
            <a:off x="5238750" y="498911"/>
            <a:ext cx="2183170" cy="2893100"/>
          </a:xfrm>
          <a:prstGeom prst="rect">
            <a:avLst/>
          </a:prstGeom>
          <a:noFill/>
        </p:spPr>
        <p:txBody>
          <a:bodyPr wrap="square" rtlCol="0" anchor="ctr" anchorCtr="1">
            <a:spAutoFit/>
          </a:bodyPr>
          <a:lstStyle/>
          <a:p>
            <a:r>
              <a:rPr lang="es-CO" sz="1200" dirty="0">
                <a:solidFill>
                  <a:srgbClr val="5B2D90"/>
                </a:solidFill>
              </a:rPr>
              <a:t> </a:t>
            </a:r>
          </a:p>
          <a:p>
            <a:endParaRPr lang="es-CO" sz="1200" dirty="0">
              <a:solidFill>
                <a:srgbClr val="5B2D90"/>
              </a:solidFill>
            </a:endParaRP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r>
              <a:rPr lang="es-CO" sz="1200" dirty="0">
                <a:solidFill>
                  <a:srgbClr val="5B2D90"/>
                </a:solidFill>
              </a:rPr>
              <a:t> </a:t>
            </a:r>
          </a:p>
          <a:p>
            <a:pPr algn="ctr"/>
            <a:endParaRPr lang="es-CO" sz="1200" dirty="0">
              <a:solidFill>
                <a:srgbClr val="5B2D90"/>
              </a:solidFill>
            </a:endParaRPr>
          </a:p>
          <a:p>
            <a:pPr algn="ctr"/>
            <a:endParaRPr lang="es-CO" sz="9800" dirty="0">
              <a:solidFill>
                <a:srgbClr val="5B2D90"/>
              </a:solidFill>
            </a:endParaRPr>
          </a:p>
        </p:txBody>
      </p:sp>
      <p:sp>
        <p:nvSpPr>
          <p:cNvPr id="4" name="TextBox 52">
            <a:extLst>
              <a:ext uri="{FF2B5EF4-FFF2-40B4-BE49-F238E27FC236}">
                <a16:creationId xmlns:a16="http://schemas.microsoft.com/office/drawing/2014/main" id="{BCC8E59F-7133-55B7-1036-64F7BFF26AD2}"/>
              </a:ext>
            </a:extLst>
          </p:cNvPr>
          <p:cNvSpPr txBox="1"/>
          <p:nvPr/>
        </p:nvSpPr>
        <p:spPr>
          <a:xfrm>
            <a:off x="813233" y="823991"/>
            <a:ext cx="7562379" cy="3046988"/>
          </a:xfrm>
          <a:prstGeom prst="rect">
            <a:avLst/>
          </a:prstGeom>
          <a:noFill/>
        </p:spPr>
        <p:txBody>
          <a:bodyPr wrap="square" rtlCol="0" anchor="ctr" anchorCtr="1">
            <a:spAutoFit/>
          </a:bodyPr>
          <a:lstStyle/>
          <a:p>
            <a:r>
              <a:rPr lang="es-CO" sz="1200" b="1" dirty="0">
                <a:solidFill>
                  <a:srgbClr val="5B2D90"/>
                </a:solidFill>
              </a:rPr>
              <a:t>Mi primer momento en la era de la </a:t>
            </a:r>
            <a:r>
              <a:rPr lang="es-CO" sz="1200" b="1" dirty="0" err="1">
                <a:solidFill>
                  <a:srgbClr val="5B2D90"/>
                </a:solidFill>
              </a:rPr>
              <a:t>ia</a:t>
            </a:r>
            <a:r>
              <a:rPr lang="es-CO" sz="1200" b="1" dirty="0">
                <a:solidFill>
                  <a:srgbClr val="5B2D90"/>
                </a:solidFill>
              </a:rPr>
              <a:t> fue cuando empecé s descubrir los referente a chat </a:t>
            </a:r>
            <a:r>
              <a:rPr lang="es-CO" sz="1200" b="1" dirty="0" err="1">
                <a:solidFill>
                  <a:srgbClr val="5B2D90"/>
                </a:solidFill>
              </a:rPr>
              <a:t>bots</a:t>
            </a:r>
            <a:r>
              <a:rPr lang="es-CO" sz="1200" b="1" dirty="0">
                <a:solidFill>
                  <a:srgbClr val="5B2D90"/>
                </a:solidFill>
              </a:rPr>
              <a:t>, siempre me h apasionado la informativa y por eso consultaba sobre esos temas, recuerdo a ver realizado un chat </a:t>
            </a:r>
            <a:r>
              <a:rPr lang="es-CO" sz="1200" b="1" dirty="0" err="1">
                <a:solidFill>
                  <a:srgbClr val="5B2D90"/>
                </a:solidFill>
              </a:rPr>
              <a:t>bot</a:t>
            </a:r>
            <a:r>
              <a:rPr lang="es-CO" sz="1200" b="1" dirty="0">
                <a:solidFill>
                  <a:srgbClr val="5B2D90"/>
                </a:solidFill>
              </a:rPr>
              <a:t> sencillo con lenguaje de marcado con preguntas sencillas.</a:t>
            </a:r>
          </a:p>
          <a:p>
            <a:endParaRPr lang="es-CO" sz="1200" b="1" dirty="0">
              <a:solidFill>
                <a:srgbClr val="5B2D90"/>
              </a:solidFill>
            </a:endParaRPr>
          </a:p>
          <a:p>
            <a:endParaRPr lang="es-CO" sz="1200" b="1" dirty="0">
              <a:solidFill>
                <a:srgbClr val="5B2D90"/>
              </a:solidFill>
            </a:endParaRPr>
          </a:p>
          <a:p>
            <a:r>
              <a:rPr lang="es-CO" sz="1200" b="1" dirty="0">
                <a:solidFill>
                  <a:srgbClr val="5B2D90"/>
                </a:solidFill>
              </a:rPr>
              <a:t>Mi momento mas  bajo fue cuando aprendí a manejar modelos de inteligencia artificial, siempre sentí curiosidad por aprender como  funciona la inteligencia artificial, hice un curso de inteligencia artificial nivel básico y la última entrega fue muy frustrante porque  pase una semana sin poder resolver un inconveniente y no lograba que mi código funcionara de manera correcta.</a:t>
            </a:r>
          </a:p>
          <a:p>
            <a:endParaRPr lang="es-CO" sz="1200" b="1" dirty="0">
              <a:solidFill>
                <a:srgbClr val="5B2D90"/>
              </a:solidFill>
            </a:endParaRPr>
          </a:p>
          <a:p>
            <a:r>
              <a:rPr lang="es-CO" sz="1200" b="1" dirty="0">
                <a:solidFill>
                  <a:srgbClr val="5B2D90"/>
                </a:solidFill>
              </a:rPr>
              <a:t>Creo que estoy viviendo mi momento más alto porque estoy aprendiendo a usar plataformas de manera correcta y cada vez adquiero mayor experiencia en lo referente a la ingeniería de </a:t>
            </a:r>
            <a:r>
              <a:rPr lang="es-CO" sz="1200" b="1" dirty="0" err="1">
                <a:solidFill>
                  <a:srgbClr val="5B2D90"/>
                </a:solidFill>
              </a:rPr>
              <a:t>promts</a:t>
            </a:r>
            <a:r>
              <a:rPr lang="es-CO" sz="1200" b="1" dirty="0">
                <a:solidFill>
                  <a:srgbClr val="5B2D90"/>
                </a:solidFill>
              </a:rPr>
              <a:t>,  mi intensión es aprender cada vez más habilidades sobre el uso de inteligencia </a:t>
            </a:r>
            <a:r>
              <a:rPr lang="es-CO" sz="1200" b="1" dirty="0" err="1">
                <a:solidFill>
                  <a:srgbClr val="5B2D90"/>
                </a:solidFill>
              </a:rPr>
              <a:t>artificuiañl</a:t>
            </a:r>
            <a:r>
              <a:rPr lang="es-CO" sz="1200" b="1" dirty="0">
                <a:solidFill>
                  <a:srgbClr val="5B2D90"/>
                </a:solidFill>
              </a:rPr>
              <a:t> en el ámbito </a:t>
            </a:r>
            <a:r>
              <a:rPr lang="es-CO" sz="1200" b="1" dirty="0" err="1">
                <a:solidFill>
                  <a:srgbClr val="5B2D90"/>
                </a:solidFill>
              </a:rPr>
              <a:t>educstivo</a:t>
            </a:r>
            <a:r>
              <a:rPr lang="es-CO" sz="1200" b="1" dirty="0">
                <a:solidFill>
                  <a:srgbClr val="5B2D90"/>
                </a:solidFill>
              </a:rPr>
              <a:t> y </a:t>
            </a:r>
            <a:r>
              <a:rPr lang="es-CO" sz="1200" b="1" dirty="0" err="1">
                <a:solidFill>
                  <a:srgbClr val="5B2D90"/>
                </a:solidFill>
              </a:rPr>
              <a:t>asipoider</a:t>
            </a:r>
            <a:r>
              <a:rPr lang="es-CO" sz="1200" b="1" dirty="0">
                <a:solidFill>
                  <a:srgbClr val="5B2D90"/>
                </a:solidFill>
              </a:rPr>
              <a:t> aprovechar estas nuevas </a:t>
            </a:r>
            <a:r>
              <a:rPr lang="es-CO" sz="1200" b="1" dirty="0" err="1">
                <a:solidFill>
                  <a:srgbClr val="5B2D90"/>
                </a:solidFill>
              </a:rPr>
              <a:t>herrmasmientas</a:t>
            </a:r>
            <a:r>
              <a:rPr lang="es-CO" sz="1200" b="1" dirty="0">
                <a:solidFill>
                  <a:srgbClr val="5B2D90"/>
                </a:solidFill>
              </a:rPr>
              <a:t>.   </a:t>
            </a:r>
            <a:r>
              <a:rPr lang="es-CO" sz="1200" b="1" dirty="0" err="1">
                <a:solidFill>
                  <a:srgbClr val="5B2D90"/>
                </a:solidFill>
              </a:rPr>
              <a:t>Pda</a:t>
            </a:r>
            <a:r>
              <a:rPr lang="es-CO" sz="1200" b="1" dirty="0">
                <a:solidFill>
                  <a:srgbClr val="5B2D90"/>
                </a:solidFill>
              </a:rPr>
              <a:t> este trabajo fue </a:t>
            </a:r>
            <a:r>
              <a:rPr lang="es-CO" sz="1200" b="1" dirty="0" err="1">
                <a:solidFill>
                  <a:srgbClr val="5B2D90"/>
                </a:solidFill>
              </a:rPr>
              <a:t>relaizao</a:t>
            </a:r>
            <a:r>
              <a:rPr lang="es-CO" sz="1200" b="1" dirty="0">
                <a:solidFill>
                  <a:srgbClr val="5B2D90"/>
                </a:solidFill>
              </a:rPr>
              <a:t> con inteligencia artificial en su </a:t>
            </a:r>
            <a:r>
              <a:rPr lang="es-CO" sz="1200" b="1" dirty="0" err="1">
                <a:solidFill>
                  <a:srgbClr val="5B2D90"/>
                </a:solidFill>
              </a:rPr>
              <a:t>omllementación</a:t>
            </a:r>
            <a:r>
              <a:rPr lang="es-CO" sz="1200" b="1">
                <a:solidFill>
                  <a:srgbClr val="5B2D90"/>
                </a:solidFill>
              </a:rPr>
              <a:t> . </a:t>
            </a:r>
            <a:endParaRPr lang="es-CO" sz="1200" b="1" dirty="0">
              <a:solidFill>
                <a:srgbClr val="5B2D90"/>
              </a:solidFill>
            </a:endParaRPr>
          </a:p>
          <a:p>
            <a:endParaRPr lang="es-CO" sz="1200" b="1" dirty="0">
              <a:solidFill>
                <a:srgbClr val="5B2D90"/>
              </a:solidFill>
            </a:endParaRPr>
          </a:p>
        </p:txBody>
      </p:sp>
    </p:spTree>
    <p:extLst>
      <p:ext uri="{BB962C8B-B14F-4D97-AF65-F5344CB8AC3E}">
        <p14:creationId xmlns:p14="http://schemas.microsoft.com/office/powerpoint/2010/main" val="26770789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1438</Words>
  <Application>Microsoft Office PowerPoint</Application>
  <PresentationFormat>Panorámica</PresentationFormat>
  <Paragraphs>101</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Anderson Ariel Salazar Salazar</dc:creator>
  <cp:lastModifiedBy>Anderson Ariel Salazar Salazar</cp:lastModifiedBy>
  <cp:revision>1</cp:revision>
  <dcterms:created xsi:type="dcterms:W3CDTF">2026-09-02T00:08:46Z</dcterms:created>
  <dcterms:modified xsi:type="dcterms:W3CDTF">2026-09-02T01:56:44Z</dcterms:modified>
</cp:coreProperties>
</file>